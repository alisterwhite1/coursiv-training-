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792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72000"/>
            <a:ext cx="936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DUBAI METRO BLUE LINE — PROGRAMME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414000"/>
            <a:ext cx="9360000" cy="25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9DDEF"/>
                </a:solidFill>
                <a:latin typeface="Calibri"/>
              </a:rPr>
              <a:t>Weekly Progress Meeting with RTA #35  |  Project No. RAL/PPDD/081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0" y="144000"/>
            <a:ext cx="3024000" cy="50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22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651,790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Manhours Worked (Week)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1720800"/>
            <a:ext cx="2328000" cy="43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8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11 /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Reportable Incidents (YTD/PTD)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000" y="1720800"/>
            <a:ext cx="2328000" cy="43200"/>
          </a:xfrm>
          <a:prstGeom prst="rect">
            <a:avLst/>
          </a:prstGeom>
          <a:solidFill>
            <a:srgbClr val="E69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0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0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HSE Inspections (Week)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0000" y="1720800"/>
            <a:ext cx="2328000" cy="43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2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2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8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ITR Closed (20,146 of 21,669)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2000" y="1720800"/>
            <a:ext cx="2328000" cy="43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04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842 (783)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NCRs Raised (Cumulative)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000" y="1720800"/>
            <a:ext cx="2328000" cy="43200"/>
          </a:xfrm>
          <a:prstGeom prst="rect">
            <a:avLst/>
          </a:prstGeom>
          <a:solidFill>
            <a:srgbClr val="E69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576000" y="900000"/>
            <a:ext cx="2328000" cy="864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76000" y="972000"/>
            <a:ext cx="2328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1,087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2000" y="1350000"/>
            <a:ext cx="225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F2"/>
                </a:solidFill>
                <a:latin typeface="Calibri"/>
              </a:rPr>
              <a:t>TBM-1 Excavation to date (90%)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576000" y="1720800"/>
            <a:ext cx="2328000" cy="43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6000" y="1908000"/>
            <a:ext cx="3564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6000" y="1908000"/>
            <a:ext cx="3564000" cy="28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1908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1. HEALTH, SAFETY, ENVIRONMENT &amp;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2250000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Avg. Manpower (week)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4000" y="2250000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10,864 (M 9,074 / S 1,790)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" y="2451600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Manhours Worked (week)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4000" y="2451600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651,790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00" y="26531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Hours since last LTI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4000" y="26531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3,255,610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" y="28547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Reportable Incidents (Wk/YTD/PTD)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44000" y="28547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0 / 11 /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00" y="30563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HSE Inductions (week)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4000" y="30563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00" y="32579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Toolbox Talks (week)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4000" y="32579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180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00" y="34595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HSE Inspections (week)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4000" y="34595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228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00" y="3661199"/>
            <a:ext cx="248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Calibri"/>
              </a:rPr>
              <a:t>Near Misses/Unsafe Acts (week)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4000" y="3661199"/>
            <a:ext cx="864000" cy="18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409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00" y="3916799"/>
            <a:ext cx="3420000" cy="108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00" y="4006799"/>
            <a:ext cx="3420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0392B"/>
                </a:solidFill>
                <a:latin typeface="Calibri"/>
              </a:rPr>
              <a:t>Incidents (16-Jun): Excavator boom struck DEWA overhead cable at Ruwaiyah Depot; concrete slurry overflow at Creek piling. No injuries; both under investigation.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24000" y="1908000"/>
            <a:ext cx="3564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24000" y="1908000"/>
            <a:ext cx="3564000" cy="288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78000" y="1908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2. QUALITY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96000" y="2250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NCR Status (Open/Closed/Total)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96000" y="2448000"/>
            <a:ext cx="3420000" cy="216000"/>
          </a:xfrm>
          <a:prstGeom prst="rect">
            <a:avLst/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96000" y="244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36000" y="244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Closed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5999" y="244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96000" y="266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411 (393)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6000" y="266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431 (390)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5999" y="266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842 (783)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96000" y="2970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ITR 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96000" y="3168000"/>
            <a:ext cx="3420000" cy="216000"/>
          </a:xfrm>
          <a:prstGeom prst="rect">
            <a:avLst/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96000" y="316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Closed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36000" y="316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Open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5999" y="3168000"/>
            <a:ext cx="114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With Engr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96000" y="338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20,146 (93%)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36000" y="338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1,523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75999" y="3384000"/>
            <a:ext cx="1140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494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96000" y="3690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MAR Status (SONO/NOWC/R&amp;R/UR)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96000" y="3888000"/>
            <a:ext cx="3420000" cy="216000"/>
          </a:xfrm>
          <a:prstGeom prst="rect">
            <a:avLst/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96000" y="388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SONO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1000" y="388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NOWC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06000" y="388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R/R&amp;R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1000" y="388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UR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96000" y="410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198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51000" y="410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346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06000" y="410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111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1000" y="410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88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96000" y="4410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Prequalifications (SONO/NOWC/R&amp;R/UR)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96000" y="4608000"/>
            <a:ext cx="3420000" cy="216000"/>
          </a:xfrm>
          <a:prstGeom prst="rect">
            <a:avLst/>
          </a:prstGeom>
          <a:solidFill>
            <a:srgbClr val="E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96000" y="460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SONO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1000" y="460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NOWC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06000" y="460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R/R&amp;R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61000" y="4608000"/>
            <a:ext cx="855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B2B4A"/>
                </a:solidFill>
                <a:latin typeface="Calibri"/>
              </a:rPr>
              <a:t>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96000" y="482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162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1000" y="482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06000" y="482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31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61000" y="4824000"/>
            <a:ext cx="855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96000" y="5130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ECR: 2 ECRs with RTA for Approval (Ref. PAJV-001668, -001795)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32000" y="1908000"/>
            <a:ext cx="3564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632000" y="1908000"/>
            <a:ext cx="3564000" cy="288000"/>
          </a:xfrm>
          <a:prstGeom prst="rect">
            <a:avLst/>
          </a:prstGeom>
          <a:solidFill>
            <a:srgbClr val="E69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86000" y="1908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3. DESIGN STATUS — KEY ITEMS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04000" y="22500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Alignment/Track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04000" y="24120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DCP1–DCP3 Mainline/Depot approved; DCP4 in progress. Mainline mock-up Mar-27.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04000" y="27432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Viaduct Substr.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04000" y="29052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Stretch 03 piers/BB03 station span: Conditional NOWC pending compliance checks.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04000" y="32364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Viaduct Superstr.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04000" y="33984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BB03 &amp; Typical Station Global Conditional NOWC 19-Jun; BG33 (BC01-03) R&amp;R.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04000" y="37296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UG Stations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04000" y="38916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BB05/BB06 base &amp; concourse slabs mostly NOWC; several R&amp;R awaiting resubmission.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04000" y="42228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Elevated Stations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04000" y="43848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BB03/04/32/36 roof &amp; entrance pods under review/R&amp;R; BG31 piers blast assessment pending.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04000" y="47160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Tunnels &amp; Depot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04000" y="48780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Tunnel Global Pkg NOWC; several validation notes NOWC; Depot APDPs under review/R&amp;R.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04000" y="52092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Architecture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04000" y="5371200"/>
            <a:ext cx="34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Pop-ups/entrances/landscape layouts in progress; BG31 Chiller Yard location confirmed.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340000" y="1908000"/>
            <a:ext cx="3564000" cy="34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40000" y="1908000"/>
            <a:ext cx="3564000" cy="28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394000" y="1908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4. KEY RISKS &amp; CRITICAL ISSUES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412000" y="22860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520000" y="2250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Station BG31: Technical level beams &amp; GL8-11 piers — blast assessment pending, approval expected this week.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412000" y="26892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520000" y="26532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TBM 3 (towards BB05): idle since 22-May; conveyor belt tower assembly 75% complete — delaying restart.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412000" y="30924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520000" y="30564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TBM 2 (towards Car Mart): 17.1% excavated, 33m behind plan; breakthrough now forecast early Dec-2026.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412000" y="34956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520000" y="34596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BG34 Concourse Beams: NOWC for Grid 3 &amp; 23 only; remainder pending ICF/Arch DCP2 (escalator shifting issue).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412000" y="38988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520000" y="38628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BB06 Base Slab: R&amp;R for Movement Joint areas; Technical Note under review.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412000" y="4302000"/>
            <a:ext cx="72000" cy="7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520000" y="4266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4A4A4A"/>
                </a:solidFill>
                <a:latin typeface="Calibri"/>
              </a:rPr>
              <a:t>Noise &amp; vibration mitigation on mainline and pre-cast track slab system proposal pending.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16000" y="5472000"/>
            <a:ext cx="3564000" cy="500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16000" y="5472000"/>
            <a:ext cx="3564000" cy="28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0000" y="5472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5. CONSTRUCTION — KEY ACHIEVEMENTS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88000" y="5850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6000" y="5814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TBM1: 1,060/1,216m (+180m ahead); breakthrough at BR07 forecast 29-Jun.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88000" y="6174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96000" y="6138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Tunnel segments: ~2,600 rings produced, 940 installed; stockpile ~3km.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88000" y="6498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96000" y="6462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Viaduct segments: 496 completed. LG1 erecting 2nd TS; LG2 launched 15-May; LG3 commissioned.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88000" y="6822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96000" y="6786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Marine piles to Creek Crossing ahead of programme.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88000" y="7146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96000" y="7110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BR07: concourse slab concrete complete; TBM on track for breakthrough 29-Jun.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88000" y="7470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96000" y="7434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BB06: stub columns &amp; external wall concreting started ahead of programme.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924000" y="5472000"/>
            <a:ext cx="3564000" cy="500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924000" y="5472000"/>
            <a:ext cx="3564000" cy="288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978000" y="5472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TUNNEL BORING PROGRESS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996000" y="5814000"/>
            <a:ext cx="3420000" cy="252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996000" y="5814000"/>
            <a:ext cx="752400" cy="2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TBM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48400" y="5814000"/>
            <a:ext cx="957600" cy="2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706000" y="5814000"/>
            <a:ext cx="752400" cy="2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vs Plan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58400" y="5814000"/>
            <a:ext cx="957600" cy="2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996000" y="6066000"/>
            <a:ext cx="3420000" cy="468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996000" y="6066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TBM-1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(→BR07)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48400" y="6066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1,087/1,216m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(90%)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06000" y="6066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+207m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ahead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58400" y="6066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BO 29-Jun-26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(BB06→BR07)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996000" y="6534000"/>
            <a:ext cx="3420000" cy="46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996000" y="6534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TBM-2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(→Car Mart)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48400" y="6534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583/3,392m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(17.1%)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706000" y="6534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+75m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ahead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58400" y="6534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BO ~Dec-26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996000" y="7002000"/>
            <a:ext cx="3420000" cy="468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96000" y="7002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TBM-3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(→BB05)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48400" y="7002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83/2,449m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(3.5%)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706000" y="7002000"/>
            <a:ext cx="7524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-260m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behind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58400" y="7002000"/>
            <a:ext cx="9576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Idle since</a:t>
            </a:r>
          </a:p>
          <a:p>
            <a:pPr algn="ctr">
              <a:lnSpc>
                <a:spcPct val="95000"/>
              </a:lnSpc>
            </a:pPr>
            <a:r>
              <a:rPr sz="760" b="0">
                <a:solidFill>
                  <a:srgbClr val="4A4A4A"/>
                </a:solidFill>
                <a:latin typeface="Calibri"/>
              </a:rPr>
              <a:t>22-May-26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996000" y="7614000"/>
            <a:ext cx="3420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Precast Yard: 496 of 3,897 segments cast (Plan 12.7% vs Actual 12.8% — on track). 4 of 5 long-lead moulds assembled; remaining items in transit.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632000" y="5472000"/>
            <a:ext cx="3564000" cy="500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632000" y="5472000"/>
            <a:ext cx="3564000" cy="288000"/>
          </a:xfrm>
          <a:prstGeom prst="rect">
            <a:avLst/>
          </a:prstGeom>
          <a:solidFill>
            <a:srgbClr val="E69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686000" y="5472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6. PROJECT CONTROLS — STATION PROGRAMME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704000" y="58140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BB05 (Intl. City 2)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04000" y="59760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Concourse slab 50%, Excavation-Base 7.4%. On track.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04000" y="62568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BB06 (Intl. City 1)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04000" y="64188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Base slab 28% (8/28 complete). Wall pours ahead of plan.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04000" y="66996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BR07 (Dragon Mart)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04000" y="68616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Base slab NOWC; concourse slab complete; TBM breakthrough imminent.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04000" y="71424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BR08 (Al Warqa)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04000" y="73044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Base slab pour 1 preparation underway.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04000" y="75852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BR09 (Mirdif City Ctr)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04000" y="77472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Roof slab zone 1 excavation commenced.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704000" y="8028000"/>
            <a:ext cx="3420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B2B4A"/>
                </a:solidFill>
                <a:latin typeface="Calibri"/>
              </a:rPr>
              <a:t>BB03/04/BG32/36/BG34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04000" y="8190000"/>
            <a:ext cx="3420000" cy="27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4A4A"/>
                </a:solidFill>
                <a:latin typeface="Calibri"/>
              </a:rPr>
              <a:t>Spine &amp; wing beam works ongoing; on track per target programme.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340000" y="5472000"/>
            <a:ext cx="3564000" cy="500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340000" y="5472000"/>
            <a:ext cx="3564000" cy="288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394000" y="5472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7. BIM  &amp;  8. AOB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412000" y="5814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B2B4A"/>
                </a:solidFill>
                <a:latin typeface="Calibri"/>
              </a:rPr>
              <a:t>BIM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412000" y="6012000"/>
            <a:ext cx="3420000" cy="50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4A4A4A"/>
                </a:solidFill>
                <a:latin typeface="Calibri"/>
              </a:rPr>
              <a:t>RFI submissions and reviews ongoing (e.g. MLCC-N0003-PMC-IFM-BIM-RFI-00010/00011 — Picklist Additions, Rev C01).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412000" y="6588000"/>
            <a:ext cx="34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B2B4A"/>
                </a:solidFill>
                <a:latin typeface="Calibri"/>
              </a:rPr>
              <a:t>AOB / Other Focus Items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412000" y="6822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520000" y="6786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Reconstituted stone sample colour shades selected for WATER, AIR, FIRE themes (18-Jun review).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412000" y="7164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520000" y="7128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Advertising DCP2 presentation awaiting Mada Media date confirmation.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412000" y="7506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520000" y="7470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Retail report C02 received 22-May; shared with CID — response being chased.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412000" y="7848000"/>
            <a:ext cx="72000" cy="72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520000" y="7812000"/>
            <a:ext cx="331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A4A"/>
                </a:solidFill>
                <a:latin typeface="Calibri"/>
              </a:rPr>
              <a:t>Interface matrix for Iconic Station MEP/RSY/VT/Façade agreement with Emaar — workshops planned.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10476000"/>
            <a:ext cx="15120000" cy="216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16000" y="10476000"/>
            <a:ext cx="72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Consultancy Services for Dubai Metro Blue Line — A Joint Venture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1880000" y="10476000"/>
            <a:ext cx="302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Source: WPP #35 Draft, 22-Jun-2026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